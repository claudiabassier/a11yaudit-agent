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9" r:id="rId20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  <Relationship Id="rId20" Type="http://schemas.openxmlformats.org/officeDocument/2006/relationships/slide" Target="slides/slide14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read this slide aloud. Go straight to the BD sentence. If someone asks about the name: a11y is the standard numeronym for accessibility, the same construction as i18n for internationalisation, and it is pronounced ally. That reading is deliberate in the field: being an ally to disabled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hook. Say the sentence, pause, then the number. Name the eight faults aloud (no image description, no page language, a heading level skipped) because the slide only says eight. Do NOT say patients read BD as bedtime. That claim is unsupported and inverted relative to ISMP; see decision_log D-43.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bottom line repeats slide 11. If you are running long, say it here OR there, not both.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Trace the pipeline with the cursor while you speak. Land hard on this: the checks and the safety search run BEFORE the AI. That ordering is what makes slides 7 and 8 possible.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down. This is the sentence the whole system is built to earn.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Quote the deterministic score: 52 to 100. Never quote the combined score's verbal label.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cut this slide. It is the single best moment in the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runs on one slide: the AI killed (732 ms, still escalated), then the three-run variation on slide 9. Do not rush the second one. It is the honesty.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cut. This is the honesty the whole project rests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panel on the right replaces scrolling the decision log live. The point is how dense it is, not reading it. Red entries are claims I had to correct. Say: 'forty-three entries; the ones in red are claims I had to take back.'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cut. Naming your own limits first is what makes the rest credible.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Mention: the AI is in the product AND in the build; the system prompt is published in meta/. Then stop and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Appendix. Do not present it. It is here so the deck can be read without you, and so you never have to define PEMAT or CCI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8C8C8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01  TURING COLLEGE · AI CAPSTONE · CASE 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8C8C8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01 / 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1572768"/>
            <a:ext cx="80101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spc="-12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A11yAudit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566928" y="2724912"/>
            <a:ext cx="5852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4B4B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AI-assisted accessibility and health-literacy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4B4B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screening for digital health content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" y="3822192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AI proposes.  Deterministic rules dispose.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46405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Claudia Bassier   ·   August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02  THE PROBLEM, IN ONE LINE OF A LEAFLET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02 / 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804672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“Take 1 tablet BD.”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Latin: bis die, twice a day.
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Nothing on the page says so.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2157984"/>
            <a:ext cx="4526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63%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 of patients with low literacy, and </a:t>
            </a:r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38%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 with adequate literacy, misunderstood ordinary prescription dosing instructions. One of six named causes: implicit rather than explicit dosing intervals.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4526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Wolf et al. 2007, Patient Educ Couns 67(3):293–300 · 395 patients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66928" y="3310128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An accessibility checker finds real faults here. Mine found eight. But none of them is the sentence that could get someone hurt. Checkers read markup, not meaning.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407822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6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CRITICAL · CONFIDENCE 0.99 · PEMAT ITEM 4 · EVIDENCE VERIFIED</a:t>
            </a:r>
            <a:endParaRPr lang="en-US" sz="750" dirty="0"/>
          </a:p>
        </p:txBody>
      </p:sp>
      <p:pic>
        <p:nvPicPr>
          <p:cNvPr id="10" name="Image 0" descr="/sessions/gifted-fervent-clarke/mnt/a11yaudit/screenshots/ss11_review_que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58384" y="1170432"/>
            <a:ext cx="3218688" cy="235000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358384" y="3621024"/>
            <a:ext cx="3218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finding this system produced, in the review queue.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03  TWO FAMILIES OF TOOLS. NEITHER CLOSES THE GAP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03 / 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Nothing joins markup to meaning.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627632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spc="10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ACCESSIBILITY CHECKERS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2103120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axe · WAVE · Lighthouse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2578608"/>
            <a:ext cx="2450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Test markup well. Reduce language to a readability grade. Cannot see that “BD” is a dosing instruction.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401568" y="1627632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spc="10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HEALTH-LITERACY INSTRUMENTS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01568" y="2103120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PEMAT-P (AHRQ) · CDC Clear Communication Index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401568" y="2578608"/>
            <a:ext cx="2450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Assess language properly, item by item. Manual rubrics: a trained human rater, one document at a time.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35040" y="1463040"/>
            <a:ext cx="2852928" cy="2212848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36208" y="1627632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spc="10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A11YAUDIT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236208" y="2103120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This project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236208" y="2578608"/>
            <a:ext cx="2450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Both in one automated pass, stored in Postgres so results can be compared across pages over time.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66928" y="4114800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report, not accessible content.   ·   The literacy demand of the material, not anyone’s health literacy.   ·   No conformance claim.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04  HOW IT WORKS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04 / 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5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Twenty nodes. One AI call.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66928" y="1389888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77824" y="1389888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79776" y="1389888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URL or pasted text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66928" y="182880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77824" y="182880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DETERMINISTIC CHECKS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779776" y="182880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9 WCAG criteria · no AI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66928" y="2267712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77824" y="2267712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SAFETY PRESCREEN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779776" y="2267712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regex · dosing, emergency, risk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66928" y="2706624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77824" y="2706624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AI ANALYSIS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779776" y="2706624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one call · temp 0 · schema-validated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66928" y="3145536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5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77824" y="314553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DECISION ENGINE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779776" y="3145536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 scores · 9 hard rules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3584448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77824" y="3584448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POSTGRES → REPORT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779776" y="3584448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audits · findings · statement</a:t>
            </a:r>
            <a:endParaRPr lang="en-US" sz="850" dirty="0"/>
          </a:p>
        </p:txBody>
      </p:sp>
      <p:pic>
        <p:nvPicPr>
          <p:cNvPr id="23" name="Image 0" descr="/sessions/gifted-fervent-clarke/mnt/a11yaudit/screenshots/ss04_wf1_canv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0016" y="1298448"/>
            <a:ext cx="3877056" cy="2048256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4700016" y="3438144"/>
            <a:ext cx="3877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WF1 - Audit Intake. Self-hosted n8n + Postgres 16 in Docker,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 local hardware. 20 nodes here, 12 in the AI subworkflow, 3 in the error handler.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566928" y="422452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Evidence verification: every finding must quote the page verbatim, and the quote is checked in code. A finding whose evidence cannot be located is discarded before the database, with no retry.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8C8C8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05  THE DESIGN PRINCIPLE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8C8C8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05 / 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80101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8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AI proposes.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66928" y="2121408"/>
            <a:ext cx="80101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8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Deterministic rules dispose.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66928" y="32004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B4B4B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Scoring, escalation and the routing of safety-critical content to a human reviewer are fixed rules. They fire whether or not the AI answers at all. Nothing on the safety path depends on the AI being correct.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06  RESULT: THE DEMO PAIR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06 / 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768096"/>
            <a:ext cx="80101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Same clinical content, rewritten.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66928" y="146304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spc="-200" kern="0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52</a:t>
            </a:r>
            <a:endParaRPr lang="en-US" sz="7600" dirty="0"/>
          </a:p>
        </p:txBody>
      </p:sp>
      <p:sp>
        <p:nvSpPr>
          <p:cNvPr id="6" name="Text 4"/>
          <p:cNvSpPr/>
          <p:nvPr/>
        </p:nvSpPr>
        <p:spPr>
          <a:xfrm>
            <a:off x="1984248" y="1463040"/>
            <a:ext cx="640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578608" y="14630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spc="-20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100</a:t>
            </a:r>
            <a:endParaRPr lang="en-US" sz="7600" dirty="0"/>
          </a:p>
        </p:txBody>
      </p:sp>
      <p:sp>
        <p:nvSpPr>
          <p:cNvPr id="8" name="Text 6"/>
          <p:cNvSpPr/>
          <p:nvPr/>
        </p:nvSpPr>
        <p:spPr>
          <a:xfrm>
            <a:off x="566928" y="2505456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DETERMINISTIC SCREENING SCORE · REPRODUCIBLE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66928" y="2871216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Verified byte-identical across runs. Both values were written down on 31 July from standalone engine runs, before the pipeline existed; the assembled system reproduced them exactly.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28032" y="1463040"/>
          <a:ext cx="374904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777240"/>
                <a:gridCol w="91440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spc="90" kern="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POOR</a:t>
                      </a:r>
                      <a:endParaRPr lang="en-US" sz="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spc="90" kern="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CORRECTED</a:t>
                      </a:r>
                      <a:endParaRPr lang="en-US" sz="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Automated findings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8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Deterministic instrument items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 of 8 fail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8 of 8 pass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PEMAT-informed understandability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28.6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92.9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PEMAT-informed actionability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33.3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100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CCI-informed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22.2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88.2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4828032" y="3401568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AI-dependent subscores move with it: reported, but not called reproducible.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07  THE RESULT THAT MATTERS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07 / 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804672"/>
            <a:ext cx="7955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00"/>
              </a:lnSpc>
              <a:buNone/>
            </a:pPr>
            <a:r>
              <a:rPr lang="en-US" sz="2900" b="1" spc="-6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It scores 100. It is well written.</a:t>
            </a:r>
            <a:endParaRPr lang="en-US" sz="2900" dirty="0"/>
          </a:p>
          <a:p>
            <a:pPr indent="0" marL="0">
              <a:lnSpc>
                <a:spcPts val="3700"/>
              </a:lnSpc>
              <a:buNone/>
            </a:pPr>
            <a:r>
              <a:rPr lang="en-US" sz="2900" b="1" spc="-6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It still goes to a human.</a:t>
            </a:r>
            <a:endParaRPr lang="en-US" sz="2900" dirty="0"/>
          </a:p>
        </p:txBody>
      </p:sp>
      <p:pic>
        <p:nvPicPr>
          <p:cNvPr id="5" name="Image 0" descr="/sessions/gifted-fervent-clarke/mnt/a11yaudit/screenshots/ss10_audit_r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212848"/>
            <a:ext cx="8010144" cy="8001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3090672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corrected page’s database row: understandability 92.9, actionability 100, CCI-informed 88.2, and status  needs_review  anyway.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66928" y="352958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Because it is still medication content. </a:t>
            </a:r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Rule R7 fires from the safety prescreen, which is regular expressions, and which runs before the AI is ever called. </a:t>
            </a:r>
            <a:pPr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good score cannot buy a page out of review.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" y="4425696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tool discriminates on quality, and does not trade safety for quality.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08  FAILURE PATH: E11, AI UNREACHABLE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08 / 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768096"/>
            <a:ext cx="52120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100"/>
              </a:lnSpc>
              <a:buNone/>
            </a:pPr>
            <a:r>
              <a:rPr lang="en-US" sz="2300" b="1" spc="-4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 made the AI unreachable.</a:t>
            </a:r>
            <a:endParaRPr lang="en-US" sz="2300" dirty="0"/>
          </a:p>
          <a:p>
            <a:pPr indent="0" marL="0">
              <a:lnSpc>
                <a:spcPts val="3100"/>
              </a:lnSpc>
              <a:buNone/>
            </a:pPr>
            <a:r>
              <a:rPr lang="en-US" sz="2300" b="1" spc="-4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audit completed anyway.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943600" y="786384"/>
            <a:ext cx="2651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00" b="1" spc="-20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732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59436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9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MILLISECONDS, INVALID API KEY</a:t>
            </a:r>
            <a:endParaRPr lang="en-US" sz="800" dirty="0"/>
          </a:p>
        </p:txBody>
      </p:sp>
      <p:pic>
        <p:nvPicPr>
          <p:cNvPr id="7" name="Image 0" descr="/sessions/gifted-fervent-clarke/mnt/a11yaudit/screenshots/ss17_e11_fallb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066544"/>
            <a:ext cx="8010144" cy="7498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2889504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R2 and R7 firing with the AI dead · instrument subscores null · completed_at empty.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66928" y="3310128"/>
            <a:ext cx="7955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It recorded that the AI had failed, fired R2, and routed to human review. It also fired 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R7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, because the prescreen runs before the AI and identified the dosing and emergency language by itself.
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With the model entirely dead, the system still refused to pass medication content through unreviewed.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09  THE MEASUREMENT THAT COST ME A CLAIM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09 / 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768096"/>
            <a:ext cx="80101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Same page. Three runs. Temperature 0.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66928" y="1426464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spc="-20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42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566928" y="2322576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9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RUN 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048256" y="1426464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spc="-20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72</a:t>
            </a:r>
            <a:endParaRPr lang="en-US" sz="6200" dirty="0"/>
          </a:p>
        </p:txBody>
      </p:sp>
      <p:sp>
        <p:nvSpPr>
          <p:cNvPr id="8" name="Text 6"/>
          <p:cNvSpPr/>
          <p:nvPr/>
        </p:nvSpPr>
        <p:spPr>
          <a:xfrm>
            <a:off x="2048256" y="2322576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9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RUN 2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529584" y="1426464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spc="-20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65</a:t>
            </a:r>
            <a:endParaRPr lang="en-US" sz="6200" dirty="0"/>
          </a:p>
        </p:txBody>
      </p:sp>
      <p:sp>
        <p:nvSpPr>
          <p:cNvPr id="10" name="Text 8"/>
          <p:cNvSpPr/>
          <p:nvPr/>
        </p:nvSpPr>
        <p:spPr>
          <a:xfrm>
            <a:off x="3529584" y="2322576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9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RUN 3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66928" y="267004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9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COMBINED SCREENING SCORE · BYTE-IDENTICAL CONTENT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" y="2962656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Rule R4 fires below 70. It fired, did not fire, then fired again. The drift is large enough to move a page across a deterministic threshold.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0" y="1371600"/>
            <a:ext cx="3547872" cy="2212848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48656" y="157276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WHAT DID NOT MOVE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248656" y="1865376"/>
            <a:ext cx="31272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Deterministic score: 100, all three runs.</a:t>
            </a:r>
            <a:endParaRPr lang="en-US" sz="95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Safety prescreen returned the same terms.</a:t>
            </a:r>
            <a:endParaRPr lang="en-US" sz="95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Routed to a human every single time.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248656" y="3035808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So I cannot claim reproducible AI analysis, and I don’t.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66928" y="3968496"/>
            <a:ext cx="80101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measurement weakened the claim and improved the system: the score is now reported as two numbers, one reproducible and one not, labelled as such in every report.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  WHAT I LEARNED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 / 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500" b="1" spc="-5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Every test passed. Three defects</a:t>
            </a:r>
            <a:endParaRPr lang="en-US" sz="2500" dirty="0"/>
          </a:p>
          <a:p>
            <a:pPr indent="0" marL="0">
              <a:lnSpc>
                <a:spcPts val="3300"/>
              </a:lnSpc>
              <a:buNone/>
            </a:pPr>
            <a:r>
              <a:rPr lang="en-US" sz="2500" b="1" spc="-5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turned up anyway.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All three were found by reading the output, not by a test failing.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66928" y="208483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50976" y="208483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misclassified error label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50976" y="2340864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n8n discards everything before the first colon in a Code-node error message.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27980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50976" y="279806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score of 100 on an unexamined page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50976" y="3054096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 markup to check, AI dead: zero checks found zero problems.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6928" y="3511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50976" y="351129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prescreen that knew 112 and 911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50976" y="3767328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But not the UK’s 999 and 111. Invisible to every test I had written.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828032" y="2011680"/>
            <a:ext cx="3749040" cy="219456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0" y="2157984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DECISION LOG: 45 ENTRIES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029200" y="2395728"/>
            <a:ext cx="33832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9A9A9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D-02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Deterministic checks in addition to AI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9A9A9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D-06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Safety prescreen runs before the AI call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D-11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Claims corrected during design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D-18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Pre-build review: 8 defects in my own code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9A9A9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D-20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Schedule slip: all Tier 2 scope cut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D-30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Two identical runs are not identical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D-32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headline score was mostly AI opinion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D-34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documents described a feature never built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D-36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Score said 100 for an unassessed page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D-37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Reading the report found a gap no test had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D-39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What a full sweep of the folder found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D-41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claim that was one word too strong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D-43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opening line was wrong, and inverted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D-45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fourth false claim, and a check to catch the next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i="1" dirty="0">
                <a:solidFill>
                  <a:srgbClr val="9A9A9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…and 31 more</a:t>
            </a:r>
            <a:endParaRPr lang="en-US" sz="720" dirty="0"/>
          </a:p>
        </p:txBody>
      </p:sp>
      <p:sp>
        <p:nvSpPr>
          <p:cNvPr id="18" name="Text 16"/>
          <p:cNvSpPr/>
          <p:nvPr/>
        </p:nvSpPr>
        <p:spPr>
          <a:xfrm>
            <a:off x="566928" y="4334256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Tests confirm what you thought to specify. They are silent about what you didn’t.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11  THE LIMITS, STATED PLAINLY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11 / 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768096"/>
            <a:ext cx="80101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What it is not.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66928" y="1426464"/>
            <a:ext cx="3877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 conformance claim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66928" y="1719072"/>
            <a:ext cx="38770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listed subset of WCAG 2.2. Colour contrast, keyboard operation, focus order, media and JavaScript-rendered content are out of scope.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700016" y="1426464"/>
            <a:ext cx="3877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An unvalidated adaptation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700016" y="1719072"/>
            <a:ext cx="38770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PEMAT-informed and CCI-informed, never a PEMAT score. Built for trained human raters. Neither AHRQ nor CDC endorses this tool.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2743200"/>
            <a:ext cx="3877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Accuracy: one data point, not a validation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3035808"/>
            <a:ext cx="38770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One rater hand-scored two fixtures blind and compared against the AI: 74.5% agreement. One rater, two fixtures — not PEMAT’s own two-rater design, and not a substitute for a false-positive rate from routine use.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700016" y="2743200"/>
            <a:ext cx="3877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intake form has no authentication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700016" y="3035808"/>
            <a:ext cx="38770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Anyone reaching the form URL can trigger a paid AI call. Not a risk while unpublished; a hard gate before any public exposure.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4224528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Raised here rather than left to be found. These limits are part of the design, not gaps in it.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8C8C8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13  CLOSE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8C8C8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13 / 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1115568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300"/>
              </a:lnSpc>
              <a:buNone/>
            </a:pPr>
            <a:r>
              <a:rPr lang="en-US" sz="3400" b="1" spc="-7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prompt is the least</a:t>
            </a:r>
            <a:endParaRPr lang="en-US" sz="3400" dirty="0"/>
          </a:p>
          <a:p>
            <a:pPr indent="0" marL="0">
              <a:lnSpc>
                <a:spcPts val="4300"/>
              </a:lnSpc>
              <a:buNone/>
            </a:pPr>
            <a:r>
              <a:rPr lang="en-US" sz="3400" b="1" spc="-7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important part.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2578608"/>
            <a:ext cx="7863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4B4B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What matters is the layering around an unreliable component: prescreen before, evidence verification after, deterministic rules that hold when the AI is absent. So that when the clever part fails, the system is still correct.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66928" y="371246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Thank you.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66928" y="422452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readme.md  ·  decision_log.md, 74 entries  ·  demo_output/  ·  screenshots/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APPENDIX  GLOSSARY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APPENDIX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713232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5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Glossary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66928" y="1133856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Not presented. The health and accessibility terms only, since the rest needs no introduction here.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1591056"/>
            <a:ext cx="3785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a11y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783080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Accessibility. The letter a, eleven letters, then y. Pronounced ally.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66928" y="2304288"/>
            <a:ext cx="3785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AHRQ · CDC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" y="2496312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US Agency for Healthcare Research and Quality · US Centers for Disease Control and Prevention.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66928" y="3017520"/>
            <a:ext cx="3785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3209544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bis die. Latin for twice a day. The abbreviation on slide 2, and the reason this project exists.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6928" y="3730752"/>
            <a:ext cx="3785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CCI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66928" y="3922776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Clear Communication Index, from the CDC. A scored checklist for health information. CDC reads 90 or above as good.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791456" y="1591056"/>
            <a:ext cx="3785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EAA · BFSG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791456" y="1783080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European Accessibility Act, and the German law implementing it. Why this content has to be accessible at all.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791456" y="2304288"/>
            <a:ext cx="3785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PEMAT-P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91456" y="2496312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Patient Education Materials Assessment Tool, Printable. A scored checklist from AHRQ, applied by trained human raters.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791456" y="3017520"/>
            <a:ext cx="3785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R1 to R9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91456" y="3209544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My nine hard rules. R2 the AI failed · R4 score under 70 · R7 safety content found.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791456" y="3730752"/>
            <a:ext cx="3785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WCAG 2.2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91456" y="3922776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Web Content Accessibility Guidelines, from the W3C. The standard this screens a listed subset of.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12  ITERATION 2: TESTED AGAINST REAL PAGES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12 / 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500" b="1" spc="-5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Two fixtures became</a:t>
            </a:r>
            <a:endParaRPr lang="en-US" sz="2500" dirty="0"/>
          </a:p>
          <a:p>
            <a:pPr indent="0" marL="0">
              <a:lnSpc>
                <a:spcPts val="3300"/>
              </a:lnSpc>
              <a:buNone/>
            </a:pPr>
            <a:r>
              <a:rPr lang="en-US" sz="2500" b="1" spc="-5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twenty-four real pages.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Rebuilt in Claude Code. Every defect below was found on markup nobody wrote for this tool, not on a hand-built fixture.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66928" y="208483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50976" y="208483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real page broke content extraction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50976" y="2340864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first live page submitted had its navigation and breadcrumbs read as article content — invisible on every fixture, since none had surrounding page chrome.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27980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50976" y="279806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fix itself had a gap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50976" y="3054096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Nested navigation inside &lt;main&gt; still leaked through. Found by a synthetic test built to check the fix, not by luck.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6928" y="3511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50976" y="351129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documentation comment broke the database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50976" y="3767328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live n8n expression sat inside a SQL comment. An AI finding with an embedded newline turned the comment into executable SQL and crashed the write.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828032" y="2011680"/>
            <a:ext cx="3749040" cy="219456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0" y="2157984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DECISION LOG: 74 ENTRIES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029200" y="2395728"/>
            <a:ext cx="33832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9A9A9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D-62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Prompt-injection mitigation added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9A9A9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D-63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audit_runs: one row per execution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D-64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instrument_items write path finally built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D-66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Least-privilege Postgres role switched on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9A9A9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D-67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Hand-scoring: 74.5% AI/human agreement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D-68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First real page found a real extraction bug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D-69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Unused fallback engine retired, not resynced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D-71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SQL comment that evaluates, found and fixed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D-72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Corpus closed at 24 pages, not 50–100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D-73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correction that itself needed correcting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D-01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Postgres over Sheets, from day one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D-52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golden-test harness pins the AI’s answer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D-55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One shared validation subworkflow, not two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D-61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An overclaim about a prior project, corrected twice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i="1" dirty="0">
                <a:solidFill>
                  <a:srgbClr val="9A9A9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…and 61 more</a:t>
            </a:r>
            <a:endParaRPr lang="en-US" sz="720" dirty="0"/>
          </a:p>
        </p:txBody>
      </p:sp>
      <p:sp>
        <p:nvSpPr>
          <p:cNvPr id="18" name="Text 16"/>
          <p:cNvSpPr/>
          <p:nvPr/>
        </p:nvSpPr>
        <p:spPr>
          <a:xfrm>
            <a:off x="566928" y="4334256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Fixtures prove the logic. Real pages prove it survives markup nobody wrote for it.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A11yAudit</dc:title>
  <dc:subject>PptxGenJS Presentation</dc:subject>
  <dc:creator>Claudia Bassier</dc:creator>
  <cp:lastModifiedBy>Claudia Bassier</cp:lastModifiedBy>
  <cp:revision>1</cp:revision>
  <dcterms:created xsi:type="dcterms:W3CDTF">2026-08-05T14:09:28Z</dcterms:created>
  <dcterms:modified xsi:type="dcterms:W3CDTF">2026-08-05T14:09:28Z</dcterms:modified>
</cp:coreProperties>
</file>