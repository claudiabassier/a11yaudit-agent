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Go straight to the BD sentence. If someone asks about the name: a11y is the standard numeronym for accessibility, the same construction as i18n for internationalisation, and it is pronounced ally. That reading is deliberate in the field: being an ally to disabled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hook. Say the sentence, pause, then the number. Name the eight faults aloud (no image description, no page language, a heading level skipped) because the slide only says eight. Do NOT say patients read BD as bedtime. That claim is unsupported and inverted relative to ISMP; see decision_log D-43.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bottom line repeats slide 11. If you are running long, say it here OR there, not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pipeline with the cursor while you speak. Land hard on this: the checks and the safety search run BEFORE the AI. That ordering is what makes slides 7 and 8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is the sentence the whole system is built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the deterministic score: 52 to 100. Never quote the combined score's verbal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 this slide. It is the single best moment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runs on one slide: the AI killed (732 ms, still escalated), then the three-run variation on slide 9. Do not rush the second one. It is the honesty.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This is the honesty the whole project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panel on the right replaces scrolling the decision log live. The point is how dense it is, not reading it. Red entries are claims I had to correct. Say: 'forty-three entries; the ones in red are claims I had to take back.'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Naming your own limits first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Mention: the AI is in the product AND in the build; the system prompt is published in meta/. Then stop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Do not present it. It is here so the deck can be read without you, and so you never have to define PEMAT or CCI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 TURING COLLEGE · AI CAPSTONE · CASE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-12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66928" y="2724912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AI-assisted accessibility and health-literacy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screening for digital health content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  Deterministic rules dispose.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6405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Claudia Bassier   ·   August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 THE PROBLEM, IN ONE LINE OF A LEAFLET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“Take 1 tablet BD.”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Latin: bis die, twice a day.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on the page says so.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215798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63%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of patients with low literacy, and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38%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with adequate literacy, misunderstood ordinary prescription dosing instructions. One of six named causes: implicit rather than explicit dosing intervals.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Wolf et al. 2007, Patient Educ Couns 67(3):293–300 · 395 patients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accessibility checker finds real faults here. Mine found eight. But none of them is the sentence that could get someone hurt. Checkers read markup, not meaning.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40782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CRITICAL · CONFIDENCE 0.99 · PEMAT ITEM 4 · EVIDENCE VERIFIED</a:t>
            </a:r>
            <a:endParaRPr lang="en-US" sz="750" dirty="0"/>
          </a:p>
        </p:txBody>
      </p:sp>
      <p:pic>
        <p:nvPicPr>
          <p:cNvPr id="10" name="Image 0" descr="/sessions/gifted-fervent-clarke/mnt/a11yaudit/screenshots/ss11_review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1170432"/>
            <a:ext cx="3218688" cy="23500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58384" y="362102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finding this system produced, in the review queue.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 TWO FAMILIES OF TOOLS. NEITHER CLOSES THE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joins markup to meaning.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 CHECKERS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axe · WAVE · Lighthouse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 markup well. Reduce language to a readability grade. Cannot see that “BD” is a dosing instruction.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0156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HEALTH-LITERACY INSTRUMENTS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0156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 (AHRQ) · CDC Clear Communication Index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0156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Assess language properly, item by item. Manual rubrics: a trained human rater, one document at a time.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852928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3620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project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3620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Both in one automated pass, stored in Postgres so results can be compared across pages over time.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11480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report, not accessible content.   ·   The literacy demand of the material, not anyone’s health literacy.   ·   No conformance claim.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 HOW IT WORKS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 nodes. One AI call.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" y="1389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79776" y="13898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URL or pasted text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79776" y="18288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 WCAG criteria · no AI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26771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7824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79776" y="22677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regex · dosing, emergency,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706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" y="27066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79776" y="270662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call · temp 0 · schema-validated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314553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7824" y="31455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ENGINE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314553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 scores · 9 hard rules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3584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7824" y="35844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→ REPORT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358444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audits · findings · statement</a:t>
            </a:r>
            <a:endParaRPr lang="en-US" sz="850" dirty="0"/>
          </a:p>
        </p:txBody>
      </p:sp>
      <p:pic>
        <p:nvPicPr>
          <p:cNvPr id="23" name="Image 0" descr="/sessions/gifted-fervent-clarke/mnt/a11yaudit/screenshots/ss04_wf1_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0016" y="1298448"/>
            <a:ext cx="3877056" cy="204825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700016" y="3438144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WF1 - Audit Intake. Self-hosted n8n + Postgres 16 in Docker,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local hardware. 20 nodes here, 12 in the AI subworkflow, 3 in the error handler.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422452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verification: every finding must quote the page verbatim, and the quote is checked in code. A finding whose evidence cannot be located is discarded before the database, with no retry.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 THE DESIGN PRINCIPLE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rules dispose.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Scoring, escalation and the routing of safety-critical content to a human reviewer are fixed rules. They fire whether or not the AI answers at all. Nothing on the safety path depends on the AI being correct.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 RESULT: THE DEMO PAIR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clinical content, rewritten.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984248" y="14630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78608" y="14630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100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SCREENING SCORE · REPRODUCIBLE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87121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Verified byte-identical across runs. Both values were written down on 31 July from standalone engine runs, before the pipeline existed; the assembled system reproduced them exactly.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28032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7772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POOR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CORRECTED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Automated findings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Deterministic instrument items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 of 8 fail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 of 8 pass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understandability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28.6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92.9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actionability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33.3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CCI-informed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88.2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828032" y="34015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AI-dependent subscores move with it: reported, but not called reproducible.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 THE RESULT THAT MATTERS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scores 100. It is well written.</a:t>
            </a:r>
            <a:endParaRPr lang="en-US" sz="2900" dirty="0"/>
          </a:p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still goes to a human.</a:t>
            </a:r>
            <a:endParaRPr lang="en-US" sz="2900" dirty="0"/>
          </a:p>
        </p:txBody>
      </p:sp>
      <p:pic>
        <p:nvPicPr>
          <p:cNvPr id="5" name="Image 0" descr="/sessions/gifted-fervent-clarke/mnt/a11yaudit/screenshots/ss10_audit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8010144" cy="800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09067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corrected page’s database row: understandability 92.9, actionability 100, CCI-informed 88.2, and status  needs_review  anyway.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Because it is still medication content. 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R7 fires from the safety prescreen, which is regular expressions, and which runs before the AI is ever called.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good score cannot buy a page out of review.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442569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tool discriminates on quality, and does not trade safety for quality.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 FAILURE PATH: E11, AI UNREACHABLE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5212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made the AI unreachable.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audit completed anyway.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0" y="7863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732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9436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MILLISECONDS, INVALID API KEY</a:t>
            </a:r>
            <a:endParaRPr lang="en-US" sz="800" dirty="0"/>
          </a:p>
        </p:txBody>
      </p:sp>
      <p:pic>
        <p:nvPicPr>
          <p:cNvPr id="7" name="Image 0" descr="/sessions/gifted-fervent-clarke/mnt/a11yaudit/screenshots/ss17_e11_fa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66544"/>
            <a:ext cx="8010144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889504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R2 and R7 firing with the AI dead · instrument subscores null · completed_at empty.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6928" y="3310128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recorded that the AI had failed, fired R2, and routed to human review. It also fired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R7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, because the prescreen runs before the AI and identified the dosing and emergency language by itself.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With the model entirely dead, the system still refused to pass medication content through unreviewed.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 THE MEASUREMENT THAT COST ME A CLAIM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page. Three runs. Temperature 0.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66928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48256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048256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29584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65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529584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COMBINED SCREENING SCORE · BYTE-IDENTICAL CONTENT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6265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R4 fires below 70. It fired, did not fire, then fired again. The drift is large enough to move a page across a deterministic threshold.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371600"/>
            <a:ext cx="3547872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48656" y="15727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DID NOT MOVE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248656" y="1865376"/>
            <a:ext cx="3127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score: 100, all three runs.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returned the same terms.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Routed to a human every single time.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48656" y="303580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I cannot claim reproducible AI analysis, and I don’t.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968496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measurement weakened the claim and improved the system: the score is now reported as two numbers, one reproducible and one not, labelled as such in every report.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 WHAT I LEARNED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test passed. Three defects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turned up anyway.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three were found by reading the output, not by a test failing.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misclassified error label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n8n discards everything before the first colon in a Code-node error message.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score of 100 on an unexamined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markup to check, AI dead: zero checks found zero problems.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prescreen that knew 112 and 911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But not the UK’s 999 and 111. Invisible to every test I had written.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45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 in addition to AI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runs before the AI call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Claims corrected during design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Pre-build review: 8 defects in my own code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D-20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Schedule slip: all Tier 2 scope cut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identical runs are not identical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headline score was mostly AI opinion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documents described a feature never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Score said 100 for an unassessed page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Reading the report found a gap no test had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a full sweep of the folder found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that was one word too strong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opening line was wrong, and inverted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fourth false claim, and a check to catch the next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31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Tests confirm what you thought to specify. They are silent about what you didn’t.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 THE LIMITS, STATED PLAINLY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it is not.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conformance claim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listed subset of WCAG 2.2. Colour contrast, keyboard operation, focus order, media and JavaScript-rendered content are out of scope.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0016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unvalidated adaptation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00016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PEMAT-informed and CCI-informed, never a PEMAT score. Built for trained human raters. Neither AHRQ nor CDC endorses this tool.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Accuracy: one data point, not a validation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rater hand-scored two fixtures blind and compared against the AI: 74.5% agreement. One rater, two fixtures - not PEMAT’s own two-rater design, and not a substitute for a false-positive rate from routine use.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0016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intake form has no authentication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00016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Anyone reaching the form URL can trigger a paid AI call. Not a risk while unpublished; a hard gate before any public exposure.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422452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Raised here rather than left to be found. These limits are part of the design, not gaps in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prompt is the least</a:t>
            </a:r>
            <a:endParaRPr lang="en-US" sz="34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important part.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578608"/>
            <a:ext cx="7863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matters is the layering around an unreliable component: prescreen before, evidence verification after, deterministic rules that hold when the AI is absent. So that when the clever part fails, the system is still correct.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2245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readme.md  ·  decision_log.md, 75 entries  ·  demo_output/  ·  screenshots/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  GLOSSARY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Glossary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133856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 presented. The health and accessibility terms only, since the rest needs no introduction here.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Accessibility. The letter a, eleven letters, then y. Pronounced ally.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AHRQ · CDC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 Agency for Healthcare Research and Quality · US Centers for Disease Control and Prevention.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bis die. Latin for twice a day. The abbreviation on slide 2, and the reason this project exists.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CCI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Clear Communication Index, from the CDC. A scored checklist for health information. CDC reads 90 or above as good.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91456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EAA · BFSG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1456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European Accessibility Act, and the German law implementing it. Why this content has to be accessible at all.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1456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Patient Education Materials Assessment Tool, Printable. A scored checklist from AHRQ, applied by trained human raters.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91456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R1 to R9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My nine hard rules. R2 the AI failed · R4 score under 70 · R7 safety content found.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91456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WCAG 2.2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91456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 Content Accessibility Guidelines, from the W3C. The standard this screens a listed subset of.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 ITERATION 2: TESTED AGAINST REAL PAGES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fixtures became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twenty-four real pages.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Rebuilt in Claude Code. Every defect below was found on markup nobody wrote for this tool, not on a hand-built fixture.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real page broke content extraction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first live page submitted had its navigation and breadcrumbs read as article content - invisible on every fixture, since none had surrounding page chrome.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fix itself had a gap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Nested navigation inside &lt;main&gt; still leaked through. Found by a synthetic test built to check the fix, not by luck.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documentation comment broke the database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live n8n expression sat inside a SQL comment. An AI finding with an embedded newline turned the comment into executable SQL and crashed the write.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75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Prompt-injection mitigation added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audit_runs: one row per execution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instrument_items write path finally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Least-privilege Postgres role switched 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Hand-scoring: 74.5% AI/human agreement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First real page found a real extraction bug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Unused fallback engine retired, not resynced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SQL comment that evaluates, found and fixed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Corpus closed at 24 pages, not 50–100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correction that itself needed correcting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over Sheets, from day one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golden-test harness pins the AI’s answer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shared validation subworkflow, not two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overclaim about a prior project, corrected twice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61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prove the logic. Real pages prove it survives markup nobody wrote for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A11yAudit</dc:title>
  <dc:subject>PptxGenJS Presentation</dc:subject>
  <dc:creator>Claudia Bassier</dc:creator>
  <cp:lastModifiedBy>Claudia Bassier</cp:lastModifiedBy>
  <cp:revision>1</cp:revision>
  <dcterms:created xsi:type="dcterms:W3CDTF">2026-08-05T14:09:28Z</dcterms:created>
  <dcterms:modified xsi:type="dcterms:W3CDTF">2026-08-05T14:09:28Z</dcterms:modified>
</cp:coreProperties>
</file>